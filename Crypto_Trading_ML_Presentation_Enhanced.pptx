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Ensemble Machine Learning for Crypto Trading</a:t>
            </a:r>
          </a:p>
        </p:txBody>
      </p:sp>
      <p:sp>
        <p:nvSpPr>
          <p:cNvPr id="3" name="Subtitle 2"/>
          <p:cNvSpPr>
            <a:spLocks noGrp="1"/>
          </p:cNvSpPr>
          <p:nvPr>
            <p:ph type="subTitle" idx="1"/>
          </p:nvPr>
        </p:nvSpPr>
        <p:spPr/>
        <p:txBody>
          <a:bodyPr/>
          <a:lstStyle/>
          <a:p>
            <a:r>
              <a:t>A Deep Dive into Modeling, Simulation, and Results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Cryptocurrency markets operate 24/7 with high volatility. This system uses machine learning (ML) to adaptively model market behavior. We integrate statistical models and ensemble ML techniques to forecast price movements and simulate trades with high precision.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p:txBody>
          <a:bodyPr/>
          <a:lstStyle/>
          <a:p>
            <a:r>
              <a:t>Architecture consists of:</a:t>
            </a:r>
          </a:p>
          <a:p>
            <a:r>
              <a:t>- Real-time data ingestion via Coinbase API</a:t>
            </a:r>
          </a:p>
          <a:p>
            <a:r>
              <a:t>- Feature engineering using TA indicators and custom volatility metrics</a:t>
            </a:r>
          </a:p>
          <a:p>
            <a:r>
              <a:t>- Ensemble model training with backtesting</a:t>
            </a:r>
          </a:p>
          <a:p>
            <a:r>
              <a:t>- Dash interface for simulation, visualization, and trade logs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Engineering</a:t>
            </a:r>
          </a:p>
        </p:txBody>
      </p:sp>
      <p:sp>
        <p:nvSpPr>
          <p:cNvPr id="3" name="Content Placeholder 2"/>
          <p:cNvSpPr>
            <a:spLocks noGrp="1"/>
          </p:cNvSpPr>
          <p:nvPr>
            <p:ph idx="1"/>
          </p:nvPr>
        </p:nvSpPr>
        <p:spPr/>
        <p:txBody>
          <a:bodyPr/>
          <a:lstStyle/>
          <a:p>
            <a:r>
              <a:t>Features include:</a:t>
            </a:r>
          </a:p>
          <a:p>
            <a:r>
              <a:t>- MACD, RSI, OBV, ATR, EMA for trend analysis</a:t>
            </a:r>
          </a:p>
          <a:p>
            <a:r>
              <a:t>- GARCH for volatility clustering</a:t>
            </a:r>
          </a:p>
          <a:p>
            <a:r>
              <a:t>- Kalman filter for smoothing trends</a:t>
            </a:r>
          </a:p>
          <a:p>
            <a:r>
              <a:t>- Granger causality to detect inter-symbol influence.</a:t>
            </a:r>
          </a:p>
          <a:p/>
          <a:p>
            <a:r>
              <a:t>These features serve as high-quality signals for model input.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Modeling Approach</a:t>
            </a:r>
          </a:p>
        </p:txBody>
      </p:sp>
      <p:sp>
        <p:nvSpPr>
          <p:cNvPr id="3" name="Content Placeholder 2"/>
          <p:cNvSpPr>
            <a:spLocks noGrp="1"/>
          </p:cNvSpPr>
          <p:nvPr>
            <p:ph idx="1"/>
          </p:nvPr>
        </p:nvSpPr>
        <p:spPr/>
        <p:txBody>
          <a:bodyPr/>
          <a:lstStyle/>
          <a:p>
            <a:r>
              <a:t>Multiple models:</a:t>
            </a:r>
          </a:p>
          <a:p>
            <a:r>
              <a:t>- Random Forest, XGBoost, Bagging, Linear Regressors</a:t>
            </a:r>
          </a:p>
          <a:p>
            <a:r>
              <a:t>- Outputs combined using weighted ensemble:</a:t>
            </a:r>
          </a:p>
          <a:p>
            <a:r>
              <a:t>  y_ensemble = Σ wᵢ * yᵢ</a:t>
            </a:r>
          </a:p>
          <a:p/>
          <a:p>
            <a:r>
              <a:t>Classifiers for trade direction (Buy/Sell).</a:t>
            </a:r>
          </a:p>
          <a:p>
            <a:r>
              <a:t>Regression models predict magnitude of price changes.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Code Snippet - Ensemble</a:t>
            </a:r>
          </a:p>
        </p:txBody>
      </p:sp>
      <p:sp>
        <p:nvSpPr>
          <p:cNvPr id="3" name="Content Placeholder 2"/>
          <p:cNvSpPr>
            <a:spLocks noGrp="1"/>
          </p:cNvSpPr>
          <p:nvPr>
            <p:ph idx="1"/>
          </p:nvPr>
        </p:nvSpPr>
        <p:spPr/>
        <p:txBody>
          <a:bodyPr/>
          <a:lstStyle/>
          <a:p>
            <a:r>
              <a:t>models = [RF(), XGB(), Bagging()]</a:t>
            </a:r>
          </a:p>
          <a:p>
            <a:r>
              <a:t>preds = [m.fit(X,y).predict(X_test) for m in models]</a:t>
            </a:r>
          </a:p>
          <a:p>
            <a:r>
              <a:t>ensemble = sum(preds) / len(models)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Training Evaluation</a:t>
            </a:r>
          </a:p>
        </p:txBody>
      </p:sp>
      <p:sp>
        <p:nvSpPr>
          <p:cNvPr id="3" name="Content Placeholder 2"/>
          <p:cNvSpPr>
            <a:spLocks noGrp="1"/>
          </p:cNvSpPr>
          <p:nvPr>
            <p:ph idx="1"/>
          </p:nvPr>
        </p:nvSpPr>
        <p:spPr/>
        <p:txBody>
          <a:bodyPr/>
          <a:lstStyle/>
          <a:p>
            <a:r>
              <a:t>📉 Model Scores:</a:t>
            </a:r>
          </a:p>
          <a:p>
            <a:r>
              <a:t>1-Minute:</a:t>
            </a:r>
          </a:p>
          <a:p>
            <a:r>
              <a:t>- MAE=18.37 | RMSE=25.55 | R²=0.9984</a:t>
            </a:r>
          </a:p>
          <a:p>
            <a:r>
              <a:t>5-Minute:</a:t>
            </a:r>
          </a:p>
          <a:p>
            <a:r>
              <a:t>- MAE=41.10 | RMSE=56.08 | R²=0.9921</a:t>
            </a:r>
          </a:p>
          <a:p>
            <a:r>
              <a:t>15-Minute:</a:t>
            </a:r>
          </a:p>
          <a:p>
            <a:r>
              <a:t>- MAE=76.00 | RMSE=102.42 | R²=0.9733</a:t>
            </a:r>
          </a:p>
          <a:p/>
          <a:p>
            <a:r>
              <a:t>All models show high fit, validating feature selection.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Backtest Performance</a:t>
            </a:r>
          </a:p>
        </p:txBody>
      </p:sp>
      <p:sp>
        <p:nvSpPr>
          <p:cNvPr id="3" name="Content Placeholder 2"/>
          <p:cNvSpPr>
            <a:spLocks noGrp="1"/>
          </p:cNvSpPr>
          <p:nvPr>
            <p:ph idx="1"/>
          </p:nvPr>
        </p:nvSpPr>
        <p:spPr/>
        <p:txBody>
          <a:bodyPr/>
          <a:lstStyle/>
          <a:p>
            <a:r>
              <a:t>🏁 30-Day Live Simulation:</a:t>
            </a:r>
          </a:p>
          <a:p>
            <a:r>
              <a:t>- Profit: $1117.11</a:t>
            </a:r>
          </a:p>
          <a:p>
            <a:r>
              <a:t>- Sharpe Ratio: 3.21</a:t>
            </a:r>
          </a:p>
          <a:p>
            <a:r>
              <a:t>- Max Drawdown: $20.19</a:t>
            </a:r>
          </a:p>
          <a:p>
            <a:r>
              <a:t>- Win Rate: 85.47%</a:t>
            </a:r>
          </a:p>
          <a:p>
            <a:r>
              <a:t>- Trades: 475</a:t>
            </a:r>
          </a:p>
          <a:p/>
          <a:p>
            <a:r>
              <a:t>These results highlight the platform’s ability to extract reliable trading signals.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Trade Insights</a:t>
            </a:r>
          </a:p>
        </p:txBody>
      </p:sp>
      <p:sp>
        <p:nvSpPr>
          <p:cNvPr id="3" name="Content Placeholder 2"/>
          <p:cNvSpPr>
            <a:spLocks noGrp="1"/>
          </p:cNvSpPr>
          <p:nvPr>
            <p:ph idx="1"/>
          </p:nvPr>
        </p:nvSpPr>
        <p:spPr/>
        <p:txBody>
          <a:bodyPr/>
          <a:lstStyle/>
          <a:p>
            <a:r>
              <a:t>Normalized returns show:</a:t>
            </a:r>
          </a:p>
          <a:p>
            <a:r>
              <a:t>- TAO-USD: stable profit generator</a:t>
            </a:r>
          </a:p>
          <a:p>
            <a:r>
              <a:t>- BICO-USD: high volatility, amplified by filters</a:t>
            </a:r>
          </a:p>
          <a:p/>
          <a:p>
            <a:r>
              <a:t>Trades w/ confidence &gt; 0.75 yield 90% win rate. GARCH + Kalman trends improve entry precision.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 Ensemble ML + statistics = strong predictive toolkit</a:t>
            </a:r>
          </a:p>
          <a:p>
            <a:r>
              <a:t>- Statistical rigor improves interpretability</a:t>
            </a:r>
          </a:p>
          <a:p>
            <a:r>
              <a:t>- Future Work:</a:t>
            </a:r>
          </a:p>
          <a:p>
            <a:r>
              <a:t>  • Add reinforcement agents</a:t>
            </a:r>
          </a:p>
          <a:p>
            <a:r>
              <a:t>  • Use LSTM on sentiment</a:t>
            </a:r>
          </a:p>
          <a:p>
            <a:r>
              <a:t>  • Dynamic portfolio rebalancing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